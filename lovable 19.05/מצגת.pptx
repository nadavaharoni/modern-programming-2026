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Heebo"/>
      <p:regular r:id="rId18"/>
      <p:bold r:id="rId19"/>
    </p:embeddedFont>
    <p:embeddedFont>
      <p:font typeface="JetBrains Mono Thin"/>
      <p:regular r:id="rId20"/>
      <p:bold r:id="rId21"/>
      <p:italic r:id="rId22"/>
      <p:boldItalic r:id="rId23"/>
    </p:embeddedFont>
    <p:embeddedFont>
      <p:font typeface="Assistant"/>
      <p:regular r:id="rId24"/>
      <p:bold r:id="rId25"/>
    </p:embeddedFont>
    <p:embeddedFont>
      <p:font typeface="Heebo Medium"/>
      <p:regular r:id="rId26"/>
      <p:bold r:id="rId27"/>
    </p:embeddedFont>
    <p:embeddedFont>
      <p:font typeface="Heebo ExtraBold"/>
      <p:bold r:id="rId28"/>
    </p:embeddedFont>
    <p:embeddedFont>
      <p:font typeface="JetBrains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1F4C38-0FFF-49B9-BBC7-B654B8CAE783}">
  <a:tblStyle styleId="{731F4C38-0FFF-49B9-BBC7-B654B8CAE78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Thin-regular.fntdata"/><Relationship Id="rId22" Type="http://schemas.openxmlformats.org/officeDocument/2006/relationships/font" Target="fonts/JetBrainsMonoThin-italic.fntdata"/><Relationship Id="rId21" Type="http://schemas.openxmlformats.org/officeDocument/2006/relationships/font" Target="fonts/JetBrainsMonoThin-bold.fntdata"/><Relationship Id="rId24" Type="http://schemas.openxmlformats.org/officeDocument/2006/relationships/font" Target="fonts/Assistant-regular.fntdata"/><Relationship Id="rId23" Type="http://schemas.openxmlformats.org/officeDocument/2006/relationships/font" Target="fonts/JetBrainsMonoThin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HeeboMedium-regular.fntdata"/><Relationship Id="rId25" Type="http://schemas.openxmlformats.org/officeDocument/2006/relationships/font" Target="fonts/Assistant-bold.fntdata"/><Relationship Id="rId28" Type="http://schemas.openxmlformats.org/officeDocument/2006/relationships/font" Target="fonts/HeeboExtraBold-bold.fntdata"/><Relationship Id="rId27" Type="http://schemas.openxmlformats.org/officeDocument/2006/relationships/font" Target="fonts/Heebo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JetBrainsMono-italic.fntdata"/><Relationship Id="rId30" Type="http://schemas.openxmlformats.org/officeDocument/2006/relationships/font" Target="fonts/JetBrainsMon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JetBrains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Heebo-bold.fntdata"/><Relationship Id="rId18" Type="http://schemas.openxmlformats.org/officeDocument/2006/relationships/font" Target="fonts/Heeb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28375" marR="342058" rtl="0" algn="l">
              <a:spcBef>
                <a:spcPts val="107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16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 a professional 'Determination Excellence' Dashboard for teachers to track student persistence and performance. Features to include:</a:t>
            </a:r>
            <a:endParaRPr sz="1216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77217" lvl="0" marL="328375" marR="342058" rtl="0" algn="l">
              <a:spcBef>
                <a:spcPts val="1077"/>
              </a:spcBef>
              <a:spcAft>
                <a:spcPts val="0"/>
              </a:spcAft>
              <a:buClr>
                <a:schemeClr val="dk1"/>
              </a:buClr>
              <a:buSzPts val="1216"/>
              <a:buFont typeface="JetBrains Mono"/>
              <a:buAutoNum type="arabicPeriod"/>
            </a:pPr>
            <a:r>
              <a:rPr lang="en-US" sz="1216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Student Table: A searchable list of students with columns for Name, Class, and a 'Persistence Score' (0-100).</a:t>
            </a:r>
            <a:endParaRPr sz="1216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77217" lvl="0" marL="328375" marR="34205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6"/>
              <a:buFont typeface="JetBrains Mono"/>
              <a:buAutoNum type="arabicPeriod"/>
            </a:pPr>
            <a:r>
              <a:rPr lang="en-US" sz="1216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Visual Logic: Use color-coded badges for the scores: Green (80+), Yellow (50-79), and Red (below 50).</a:t>
            </a:r>
            <a:endParaRPr sz="1216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77217" lvl="0" marL="328375" marR="34205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6"/>
              <a:buFont typeface="JetBrains Mono"/>
              <a:buAutoNum type="arabicPeriod"/>
            </a:pPr>
            <a:r>
              <a:rPr lang="en-US" sz="1216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Analytics Cards: Top-level stats showing: Total Students, Class Average Score, and a 'Most Improved' student.</a:t>
            </a:r>
            <a:endParaRPr sz="1216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77217" lvl="0" marL="328375" marR="34205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6"/>
              <a:buFont typeface="JetBrains Mono"/>
              <a:buAutoNum type="arabicPeriod"/>
            </a:pPr>
            <a:r>
              <a:rPr lang="en-US" sz="1216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Visualization: A beautiful line chart (using Recharts) showing the weekly trend of average class persistence.</a:t>
            </a:r>
            <a:endParaRPr sz="1216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77217" lvl="0" marL="328375" marR="34205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6"/>
              <a:buFont typeface="JetBrains Mono"/>
              <a:buAutoNum type="arabicPeriod"/>
            </a:pPr>
            <a:r>
              <a:rPr lang="en-US" sz="1216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Design: Modern, minimalist UI using a 'Slate and Indigo' theme with shadcn/ui components. Ensure it is fully responsive.</a:t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f5a9a183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df5a9a183d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26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9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20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7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9.png"/><Relationship Id="rId8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57400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Lovable.dev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933700"/>
            <a:ext cx="110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2D3EE"/>
                </a:solidFill>
                <a:latin typeface="Heebo Medium"/>
                <a:ea typeface="Heebo Medium"/>
                <a:cs typeface="Heebo Medium"/>
                <a:sym typeface="Heebo Medium"/>
              </a:rPr>
              <a:t>מ-Natural Language לאפליקציית Full-Stack חיה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267200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סמינר סביבות עבודה ופיתוח | מציגה: </a:t>
            </a:r>
            <a:r>
              <a:rPr lang="en-US" sz="1650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מרים גרזון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71500" y="4076700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5107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334125" y="2861369"/>
            <a:ext cx="555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Assistant"/>
                <a:ea typeface="Assistant"/>
                <a:cs typeface="Assistant"/>
                <a:sym typeface="Assistant"/>
              </a:rPr>
              <a:t>למה זה משנה את שוק העבודה?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34125" y="4804469"/>
            <a:ext cx="528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2D3EE"/>
                </a:solidFill>
                <a:latin typeface="Assistant"/>
                <a:ea typeface="Assistant"/>
                <a:cs typeface="Assistant"/>
                <a:sym typeface="Assistant"/>
              </a:rPr>
              <a:t>עכשיו נתחיל את הדמו ונראה את זה קורה בזמן אמת...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334125" y="3385244"/>
            <a:ext cx="4905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מהירות: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צמצום זמן ה-Setup וה-Boilerplate מ-100% ל-0%.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334125" y="3842444"/>
            <a:ext cx="4905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הנגשה: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יצירת MVP מלא במילים פשוטות.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334125" y="4299644"/>
            <a:ext cx="4905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שילוב: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ה-AI מנהל את ה-Backend וה-Frontend במקביל.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9525" y="343763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10950" y="389483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39525" y="4352032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71500" y="950850"/>
            <a:ext cx="1083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2D3EE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המהפכה של ה-AI הבונה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11544300" y="950862"/>
            <a:ext cx="76200" cy="666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8292" r="8284" t="0"/>
          <a:stretch/>
        </p:blipFill>
        <p:spPr>
          <a:xfrm>
            <a:off x="620479" y="2342896"/>
            <a:ext cx="5185200" cy="3493800"/>
          </a:xfrm>
          <a:prstGeom prst="roundRect">
            <a:avLst>
              <a:gd fmla="val 323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4549" y="2713732"/>
            <a:ext cx="355595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8099" y="2713732"/>
            <a:ext cx="355595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648" y="2713732"/>
            <a:ext cx="355595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91850" y="29613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159167" y="3485257"/>
            <a:ext cx="321368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Assistant"/>
                <a:ea typeface="Assistant"/>
                <a:cs typeface="Assistant"/>
                <a:sym typeface="Assistant"/>
              </a:rPr>
              <a:t>Front-end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312199" y="4075807"/>
            <a:ext cx="306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מבוסס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React</a:t>
            </a: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עם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Vite</a:t>
            </a: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. שימוש ב-Tailwind CSS וספריית shadcn/ui לעיצוב תקני.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45399" y="29613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412716" y="3485257"/>
            <a:ext cx="321368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Assistant"/>
                <a:ea typeface="Assistant"/>
                <a:cs typeface="Assistant"/>
                <a:sym typeface="Assistant"/>
              </a:rPr>
              <a:t>Back-end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565749" y="4075807"/>
            <a:ext cx="306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לוגיקה ב-TypeScript הרצה כ-</a:t>
            </a:r>
            <a:r>
              <a:rPr b="1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Edge Functions</a:t>
            </a: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. פריסה אוטומטית לענן (Netlify).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46574" y="296138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666266" y="3485257"/>
            <a:ext cx="321368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Assistant"/>
                <a:ea typeface="Assistant"/>
                <a:cs typeface="Assistant"/>
                <a:sym typeface="Assistant"/>
              </a:rPr>
              <a:t>Data Layer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19298" y="4075807"/>
            <a:ext cx="30606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חיבור מובנה ל-</a:t>
            </a:r>
            <a:r>
              <a:rPr b="1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Supabase</a:t>
            </a: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(Postgres). ניהול טבלאות ו-Auth בלחיצת כפתור.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950850"/>
            <a:ext cx="1097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2D3EE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מה קורה מתחת למכסה המנוע?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11544300" y="950862"/>
            <a:ext cx="76200" cy="666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5107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6334125" y="2694682"/>
            <a:ext cx="555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Assistant"/>
                <a:ea typeface="Assistant"/>
                <a:cs typeface="Assistant"/>
                <a:sym typeface="Assistant"/>
              </a:rPr>
              <a:t>הקוד שייך לך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334125" y="3285232"/>
            <a:ext cx="528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בניגוד ל-Wix, כאן הקוד הוא קוד React סטנדרטי לחלוטין.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334125" y="3809107"/>
            <a:ext cx="4905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GitHub Sync: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כל שינוי מייצר Commits אמיתיים ב-Repo.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334125" y="4266307"/>
            <a:ext cx="4905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Eject Anytime: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ניתן להוריד את הקוד ולהמשיך ידנית ב-VS Code.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334125" y="5037832"/>
            <a:ext cx="4905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שיתוף: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ניתן להוסיף מפתחים ל-GitHub ולעבוד בצוות.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20475" y="3861494"/>
            <a:ext cx="2000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10950" y="431869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53800" y="5090219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71500" y="950850"/>
            <a:ext cx="1083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2D3EE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אין Vendor Lock-in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11544300" y="950862"/>
            <a:ext cx="76200" cy="666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6"/>
          <p:cNvPicPr preferRelativeResize="0"/>
          <p:nvPr/>
        </p:nvPicPr>
        <p:blipFill rotWithShape="1">
          <a:blip r:embed="rId8">
            <a:alphaModFix/>
          </a:blip>
          <a:srcRect b="0" l="10654" r="10662" t="0"/>
          <a:stretch/>
        </p:blipFill>
        <p:spPr>
          <a:xfrm>
            <a:off x="580223" y="2335500"/>
            <a:ext cx="5199600" cy="3510600"/>
          </a:xfrm>
          <a:prstGeom prst="roundRect">
            <a:avLst>
              <a:gd fmla="val 414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85107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71500" y="2694682"/>
            <a:ext cx="555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Assistant"/>
                <a:ea typeface="Assistant"/>
                <a:cs typeface="Assistant"/>
                <a:sym typeface="Assistant"/>
              </a:rPr>
              <a:t>Supabase and Beyond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3285232"/>
            <a:ext cx="5286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Lovable מותאם ל-Supabase כאוטומציה, אך גמיש טכנית: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3809107"/>
            <a:ext cx="4905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PostgreSQL: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המערכת מייצרת שאילתות SQL תקניות.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4266307"/>
            <a:ext cx="4905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גמישות: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ניתן לחבר מסדי נתונים אחרים (כמו Neon) ע"י עריכה ידנית של קוד ה-Client.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5037832"/>
            <a:ext cx="4905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אבטחה: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ניהול Row Level Security (RLS) ישירות מהממשק.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950850"/>
            <a:ext cx="1083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2D3EE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ניהול מסדי נתונים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11544300" y="950862"/>
            <a:ext cx="76200" cy="666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17"/>
          <p:cNvPicPr preferRelativeResize="0"/>
          <p:nvPr/>
        </p:nvPicPr>
        <p:blipFill rotWithShape="1">
          <a:blip r:embed="rId5">
            <a:alphaModFix/>
          </a:blip>
          <a:srcRect b="1868" l="21314" r="20688" t="1868"/>
          <a:stretch/>
        </p:blipFill>
        <p:spPr>
          <a:xfrm>
            <a:off x="6390150" y="2331725"/>
            <a:ext cx="5192700" cy="3619500"/>
          </a:xfrm>
          <a:prstGeom prst="roundRect">
            <a:avLst>
              <a:gd fmla="val 419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4956373" y="982575"/>
            <a:ext cx="6426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22D3EE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מקרה בוחן: מיליון תודות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11525250" y="982568"/>
            <a:ext cx="95400" cy="665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725" y="2385350"/>
            <a:ext cx="5494500" cy="361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6667500" y="2944713"/>
            <a:ext cx="49530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האתגר:</a:t>
            </a:r>
            <a:r>
              <a:rPr b="0" i="0" lang="en-US" sz="180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פיתוח ידני ב-Node.js שנתקל בחוסר התאמה לתשתית הענן (PHP).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667500" y="4003774"/>
            <a:ext cx="4524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1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ההחלטה:</a:t>
            </a:r>
            <a:r>
              <a:rPr b="0" i="0" lang="en-US" sz="180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לשחרר את ה-"גאווה הטכנולוגית" לטובת המטרה.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667500" y="4786610"/>
            <a:ext cx="452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1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התוצאה:</a:t>
            </a:r>
            <a:r>
              <a:rPr b="0" i="0" lang="en-US" sz="180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אפליקציה חיה באוויר תוך 45 דקות בלבד.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667500" y="5249465"/>
            <a:ext cx="4524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1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תובנה:</a:t>
            </a:r>
            <a:r>
              <a:rPr b="0" i="0" lang="en-US" sz="180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המיומנות עברה מ-"כתיבת קוד" ל-"ניהול אפיון".</a:t>
            </a:r>
            <a:endParaRPr/>
          </a:p>
        </p:txBody>
      </p:sp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01425" y="4056161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72850" y="483899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72850" y="5301853"/>
            <a:ext cx="2476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75669"/>
            <a:ext cx="5286375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6334125" y="2675632"/>
            <a:ext cx="555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Assistant"/>
                <a:ea typeface="Assistant"/>
                <a:cs typeface="Assistant"/>
                <a:sym typeface="Assistant"/>
              </a:rPr>
              <a:t>איפה האתגרים?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79596" y="3223319"/>
            <a:ext cx="5030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3B82F6"/>
                </a:solidFill>
                <a:latin typeface="Assistant"/>
                <a:ea typeface="Assistant"/>
                <a:cs typeface="Assistant"/>
                <a:sym typeface="Assistant"/>
              </a:rPr>
              <a:t>האם ה-AI יחליף אותנו?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19150" y="3813869"/>
            <a:ext cx="4791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המסקנה: Lovable הוא "מכפיל כוח" למתכנתות. מי שלא יודעת תוכנה תוכל לבנות 80%, אבל לא תוכל לפתור בעיות עומק ב-State או ב-Security.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334125" y="3199507"/>
            <a:ext cx="4905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עלויות: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מודל Freemium. החינם מוגבל במספר הודעות. מנוי Pro יקר יחסית (20$+).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334125" y="3971032"/>
            <a:ext cx="4905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מגבלות: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קושי באפליקציות ענק עם לוגיקה מתמטית כבדה מאוד או עיבוד נתונים מורכב במיוחד.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334125" y="4742557"/>
            <a:ext cx="4905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דיוק: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 ב-20% האחרונים של הפרויקט נדרשת לעיתים יד אנושית מקצועית.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71500" y="950850"/>
            <a:ext cx="1081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2D3EE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מגבלות ועלויות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11544300" y="950862"/>
            <a:ext cx="76200" cy="666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74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495300" y="2522570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כדי לבנות את מערכת ה-</a:t>
            </a:r>
            <a:r>
              <a:rPr b="1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Determination Excellence</a:t>
            </a: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, השתמשנו בפרומפט הנדסי מפורט: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5844482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בשלב זה נראה את התוצאה הראשונה שנוצרה בדמו...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950850"/>
            <a:ext cx="1078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2D3EE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הנחת היסוד: הפרומפט הראשוני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11544300" y="950862"/>
            <a:ext cx="76200" cy="666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4" name="Google Shape;194;p20"/>
          <p:cNvGrpSpPr/>
          <p:nvPr/>
        </p:nvGrpSpPr>
        <p:grpSpPr>
          <a:xfrm>
            <a:off x="247688" y="3038599"/>
            <a:ext cx="11296615" cy="2421802"/>
            <a:chOff x="323450" y="2159751"/>
            <a:chExt cx="11625620" cy="3920677"/>
          </a:xfrm>
        </p:grpSpPr>
        <p:sp>
          <p:nvSpPr>
            <p:cNvPr id="195" name="Google Shape;195;p20"/>
            <p:cNvSpPr/>
            <p:nvPr/>
          </p:nvSpPr>
          <p:spPr>
            <a:xfrm>
              <a:off x="323450" y="2170828"/>
              <a:ext cx="11407800" cy="3909600"/>
            </a:xfrm>
            <a:prstGeom prst="roundRect">
              <a:avLst>
                <a:gd fmla="val 4816" name="adj"/>
              </a:avLst>
            </a:prstGeom>
            <a:solidFill>
              <a:srgbClr val="000000"/>
            </a:solidFill>
            <a:ln cap="flat" cmpd="sng" w="8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075" lIns="82075" spcFirstLastPara="1" rIns="82075" wrap="square" tIns="328350">
              <a:noAutofit/>
            </a:bodyPr>
            <a:lstStyle/>
            <a:p>
              <a:pPr indent="0" lvl="0" marL="328375" marR="342058" rtl="0" algn="l">
                <a:spcBef>
                  <a:spcPts val="1077"/>
                </a:spcBef>
                <a:spcAft>
                  <a:spcPts val="0"/>
                </a:spcAft>
                <a:buClr>
                  <a:srgbClr val="000000"/>
                </a:buClr>
                <a:buSzPts val="988"/>
                <a:buFont typeface="Arial"/>
                <a:buNone/>
              </a:pPr>
              <a:r>
                <a:rPr lang="en-US" sz="1216">
                  <a:solidFill>
                    <a:srgbClr val="22D3E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״Build a professional 'Determination Excellence' Dashboard for teachers to track student persistence and performance. Features to include:</a:t>
              </a:r>
              <a:endParaRPr sz="1216">
                <a:solidFill>
                  <a:srgbClr val="22D3E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-77217" lvl="0" marL="328375" marR="342058" rtl="0" algn="l">
                <a:spcBef>
                  <a:spcPts val="1077"/>
                </a:spcBef>
                <a:spcAft>
                  <a:spcPts val="0"/>
                </a:spcAft>
                <a:buClr>
                  <a:srgbClr val="22D3EE"/>
                </a:buClr>
                <a:buSzPts val="1216"/>
                <a:buFont typeface="JetBrains Mono"/>
                <a:buAutoNum type="arabicPeriod"/>
              </a:pPr>
              <a:r>
                <a:rPr lang="en-US" sz="1216">
                  <a:solidFill>
                    <a:srgbClr val="22D3E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Student Table: A searchable list of students with columns for Name, Class, and a 'Persistence Score' (0-100).</a:t>
              </a:r>
              <a:endParaRPr sz="1216">
                <a:solidFill>
                  <a:srgbClr val="22D3E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-77217" lvl="0" marL="328375" marR="342058" rtl="0" algn="l">
                <a:spcBef>
                  <a:spcPts val="0"/>
                </a:spcBef>
                <a:spcAft>
                  <a:spcPts val="0"/>
                </a:spcAft>
                <a:buClr>
                  <a:srgbClr val="22D3EE"/>
                </a:buClr>
                <a:buSzPts val="1216"/>
                <a:buFont typeface="JetBrains Mono"/>
                <a:buAutoNum type="arabicPeriod"/>
              </a:pPr>
              <a:r>
                <a:rPr lang="en-US" sz="1216">
                  <a:solidFill>
                    <a:srgbClr val="22D3E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Visual Logic: Use color-coded badges for the scores: Green (80+), Yellow (50-79), and Red (below 50).</a:t>
              </a:r>
              <a:endParaRPr sz="1216">
                <a:solidFill>
                  <a:srgbClr val="22D3E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-77217" lvl="0" marL="328375" marR="342058" rtl="0" algn="l">
                <a:spcBef>
                  <a:spcPts val="0"/>
                </a:spcBef>
                <a:spcAft>
                  <a:spcPts val="0"/>
                </a:spcAft>
                <a:buClr>
                  <a:srgbClr val="22D3EE"/>
                </a:buClr>
                <a:buSzPts val="1216"/>
                <a:buFont typeface="JetBrains Mono"/>
                <a:buAutoNum type="arabicPeriod"/>
              </a:pPr>
              <a:r>
                <a:rPr lang="en-US" sz="1216">
                  <a:solidFill>
                    <a:srgbClr val="22D3E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Analytics Cards: Top-level stats showing: Total Students, Class Average Score, and a 'Most Improved' student.</a:t>
              </a:r>
              <a:endParaRPr sz="1216">
                <a:solidFill>
                  <a:srgbClr val="22D3E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-77217" lvl="0" marL="328375" marR="342058" rtl="0" algn="l">
                <a:spcBef>
                  <a:spcPts val="0"/>
                </a:spcBef>
                <a:spcAft>
                  <a:spcPts val="0"/>
                </a:spcAft>
                <a:buClr>
                  <a:srgbClr val="22D3EE"/>
                </a:buClr>
                <a:buSzPts val="1216"/>
                <a:buFont typeface="JetBrains Mono"/>
                <a:buAutoNum type="arabicPeriod"/>
              </a:pPr>
              <a:r>
                <a:rPr lang="en-US" sz="1216">
                  <a:solidFill>
                    <a:srgbClr val="22D3E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Data Visualization: A beautiful line chart (using Recharts) showing the weekly trend of average class persistence.</a:t>
              </a:r>
              <a:endParaRPr sz="1216">
                <a:solidFill>
                  <a:srgbClr val="22D3E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-77217" lvl="0" marL="328375" marR="342058" rtl="0" algn="l">
                <a:spcBef>
                  <a:spcPts val="0"/>
                </a:spcBef>
                <a:spcAft>
                  <a:spcPts val="0"/>
                </a:spcAft>
                <a:buClr>
                  <a:srgbClr val="22D3EE"/>
                </a:buClr>
                <a:buSzPts val="1216"/>
                <a:buFont typeface="JetBrains Mono"/>
                <a:buAutoNum type="arabicPeriod"/>
              </a:pPr>
              <a:r>
                <a:rPr lang="en-US" sz="1216">
                  <a:solidFill>
                    <a:srgbClr val="22D3E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Design: Modern, minimalist UI using a 'Slate and Indigo' theme with shadcn/ui components. Ensure it is fully responsive.״</a:t>
              </a:r>
              <a:endParaRPr sz="1216">
                <a:solidFill>
                  <a:srgbClr val="22D3E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328375" rtl="0" algn="l">
                <a:spcBef>
                  <a:spcPts val="1077"/>
                </a:spcBef>
                <a:spcAft>
                  <a:spcPts val="0"/>
                </a:spcAft>
                <a:buClr>
                  <a:srgbClr val="000000"/>
                </a:buClr>
                <a:buSzPts val="988"/>
                <a:buFont typeface="Arial"/>
                <a:buNone/>
              </a:pPr>
              <a:r>
                <a:t/>
              </a:r>
              <a:endParaRPr sz="1216">
                <a:solidFill>
                  <a:srgbClr val="22D3E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pic>
          <p:nvPicPr>
            <p:cNvPr descr="image.png" id="196" name="Google Shape;196;p20"/>
            <p:cNvPicPr preferRelativeResize="0"/>
            <p:nvPr/>
          </p:nvPicPr>
          <p:blipFill rotWithShape="1">
            <a:blip r:embed="rId4">
              <a:alphaModFix/>
            </a:blip>
            <a:srcRect b="-700" l="98835" r="0" t="700"/>
            <a:stretch/>
          </p:blipFill>
          <p:spPr>
            <a:xfrm>
              <a:off x="11620494" y="2159751"/>
              <a:ext cx="328576" cy="3909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966394"/>
            <a:ext cx="5286375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966394"/>
            <a:ext cx="5286375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571500" y="2737544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עכשיו נראה איך אנחנו משפרים את המוצר בזמן אמת ע"י הוספת לוגיקה ופיצ'רים חדשים:</a:t>
            </a:r>
            <a:endParaRPr/>
          </a:p>
        </p:txBody>
      </p:sp>
      <p:pic>
        <p:nvPicPr>
          <p:cNvPr descr="image.png" id="205" name="Google Shape;20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37050" y="5233094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75100" y="523785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71500" y="950850"/>
            <a:ext cx="1104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2D3EE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הכוח שבאיטרציה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11544300" y="950862"/>
            <a:ext cx="76200" cy="666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9" name="Google Shape;209;p21"/>
          <p:cNvGrpSpPr/>
          <p:nvPr/>
        </p:nvGrpSpPr>
        <p:grpSpPr>
          <a:xfrm>
            <a:off x="417199" y="3211041"/>
            <a:ext cx="11357606" cy="1449397"/>
            <a:chOff x="354000" y="3741476"/>
            <a:chExt cx="11518870" cy="1890683"/>
          </a:xfrm>
        </p:grpSpPr>
        <p:sp>
          <p:nvSpPr>
            <p:cNvPr id="210" name="Google Shape;210;p21"/>
            <p:cNvSpPr/>
            <p:nvPr/>
          </p:nvSpPr>
          <p:spPr>
            <a:xfrm>
              <a:off x="354000" y="3741516"/>
              <a:ext cx="11407800" cy="1890600"/>
            </a:xfrm>
            <a:prstGeom prst="roundRect">
              <a:avLst>
                <a:gd fmla="val 4816" name="adj"/>
              </a:avLst>
            </a:prstGeom>
            <a:solidFill>
              <a:srgbClr val="000000"/>
            </a:solidFill>
            <a:ln cap="flat" cmpd="sng" w="9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150" lIns="90150" spcFirstLastPara="1" rIns="90150" wrap="square" tIns="360650">
              <a:noAutofit/>
            </a:bodyPr>
            <a:lstStyle/>
            <a:p>
              <a:pPr indent="0" lvl="0" marL="375684" marR="375684" rtl="0" algn="l">
                <a:lnSpc>
                  <a:spcPct val="115000"/>
                </a:lnSpc>
                <a:spcBef>
                  <a:spcPts val="1183"/>
                </a:spcBef>
                <a:spcAft>
                  <a:spcPts val="0"/>
                </a:spcAft>
                <a:buClr>
                  <a:srgbClr val="000000"/>
                </a:buClr>
                <a:buSzPts val="1085"/>
                <a:buFont typeface="Arial"/>
                <a:buNone/>
              </a:pPr>
              <a:r>
                <a:rPr lang="en-US" sz="1775">
                  <a:solidFill>
                    <a:srgbClr val="22D3EE"/>
                  </a:solidFill>
                  <a:latin typeface="JetBrains Mono Thin"/>
                  <a:ea typeface="JetBrains Mono Thin"/>
                  <a:cs typeface="JetBrains Mono Thin"/>
                  <a:sym typeface="JetBrains Mono Thin"/>
                </a:rPr>
                <a:t>"The dashboard looks great. Now, add a search bar to filter the students list. Also, make the persistence badges dynamic: if a student's score is over 90, show a gold medal icon instead of a star."</a:t>
              </a:r>
              <a:endParaRPr sz="1775">
                <a:solidFill>
                  <a:srgbClr val="22D3EE"/>
                </a:solidFill>
                <a:latin typeface="JetBrains Mono Thin"/>
                <a:ea typeface="JetBrains Mono Thin"/>
                <a:cs typeface="JetBrains Mono Thin"/>
                <a:sym typeface="JetBrains Mono Thin"/>
              </a:endParaRPr>
            </a:p>
            <a:p>
              <a:pPr indent="0" lvl="0" marL="0" rtl="0" algn="l">
                <a:spcBef>
                  <a:spcPts val="1183"/>
                </a:spcBef>
                <a:spcAft>
                  <a:spcPts val="0"/>
                </a:spcAft>
                <a:buNone/>
              </a:pPr>
              <a:r>
                <a:t/>
              </a:r>
              <a:endParaRPr sz="1775">
                <a:solidFill>
                  <a:srgbClr val="22D3EE"/>
                </a:solidFill>
                <a:latin typeface="JetBrains Mono Thin"/>
                <a:ea typeface="JetBrains Mono Thin"/>
                <a:cs typeface="JetBrains Mono Thin"/>
                <a:sym typeface="JetBrains Mono Thin"/>
              </a:endParaRPr>
            </a:p>
          </p:txBody>
        </p:sp>
        <p:pic>
          <p:nvPicPr>
            <p:cNvPr descr="image.png" id="211" name="Google Shape;211;p21"/>
            <p:cNvPicPr preferRelativeResize="0"/>
            <p:nvPr/>
          </p:nvPicPr>
          <p:blipFill rotWithShape="1">
            <a:blip r:embed="rId8">
              <a:alphaModFix/>
            </a:blip>
            <a:srcRect b="0" l="98835" r="0" t="0"/>
            <a:stretch/>
          </p:blipFill>
          <p:spPr>
            <a:xfrm>
              <a:off x="11544294" y="3741476"/>
              <a:ext cx="328576" cy="189068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/>
          <p:nvPr/>
        </p:nvSpPr>
        <p:spPr>
          <a:xfrm>
            <a:off x="571500" y="3051869"/>
            <a:ext cx="11049000" cy="227647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" name="Google Shape;218;p22"/>
          <p:cNvGraphicFramePr/>
          <p:nvPr/>
        </p:nvGraphicFramePr>
        <p:xfrm>
          <a:off x="571500" y="30518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{731F4C38-0FFF-49B9-BBC7-B654B8CAE783}</a:tableStyleId>
              </a:tblPr>
              <a:tblGrid>
                <a:gridCol w="2587075"/>
                <a:gridCol w="2723250"/>
                <a:gridCol w="2976125"/>
                <a:gridCol w="2762550"/>
              </a:tblGrid>
              <a:tr h="569125">
                <a:tc>
                  <a:txBody>
                    <a:bodyPr/>
                    <a:lstStyle/>
                    <a:p>
                      <a:pPr indent="0" lvl="0" marL="0" marR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יכולת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Lovable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Cursor (IDE)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v0.dev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69125">
                <a:tc>
                  <a:txBody>
                    <a:bodyPr/>
                    <a:lstStyle/>
                    <a:p>
                      <a:pPr indent="0" lvl="0" marL="0" marR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מהירות MVP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גבוהה מאוד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בינונית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גבוהה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72A"/>
                    </a:solidFill>
                  </a:tcPr>
                </a:tc>
              </a:tr>
              <a:tr h="569125">
                <a:tc>
                  <a:txBody>
                    <a:bodyPr/>
                    <a:lstStyle/>
                    <a:p>
                      <a:pPr indent="0" lvl="0" marL="0" marR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ניהול Database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אוטומטי (Native)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ידני בלבד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חלקי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72A"/>
                    </a:solidFill>
                  </a:tcPr>
                </a:tc>
              </a:tr>
              <a:tr h="569125">
                <a:tc>
                  <a:txBody>
                    <a:bodyPr/>
                    <a:lstStyle/>
                    <a:p>
                      <a:pPr indent="0" lvl="0" marL="0" marR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קהל יעד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מפתחים ויזמים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מתכנתים מקצועיים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מעצבים ומפתחים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72A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22"/>
          <p:cNvSpPr/>
          <p:nvPr/>
        </p:nvSpPr>
        <p:spPr>
          <a:xfrm>
            <a:off x="9033420" y="3656707"/>
            <a:ext cx="258707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6310163" y="3656707"/>
            <a:ext cx="27232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3334047" y="3656707"/>
            <a:ext cx="29761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571500" y="3656707"/>
            <a:ext cx="276254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9033420" y="4209157"/>
            <a:ext cx="258707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6310163" y="4209157"/>
            <a:ext cx="27232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3334047" y="4209157"/>
            <a:ext cx="29761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571500" y="4209157"/>
            <a:ext cx="276254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9033420" y="4761607"/>
            <a:ext cx="258707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6310163" y="4761607"/>
            <a:ext cx="27232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3334047" y="4761607"/>
            <a:ext cx="29761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71500" y="4761607"/>
            <a:ext cx="276254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9033420" y="5314057"/>
            <a:ext cx="258707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6310163" y="5314057"/>
            <a:ext cx="27232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3334047" y="5314057"/>
            <a:ext cx="29761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571500" y="5314057"/>
            <a:ext cx="276254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571500" y="950850"/>
            <a:ext cx="1104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22D3EE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Lovabl</a:t>
            </a:r>
            <a:r>
              <a:rPr b="0" i="0" lang="en-US" sz="3600" u="none" cap="none" strike="noStrike">
                <a:solidFill>
                  <a:srgbClr val="22D3EE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e</a:t>
            </a:r>
            <a:r>
              <a:rPr b="0" i="0" lang="en-US" sz="3600" u="none" cap="none" strike="noStrike">
                <a:solidFill>
                  <a:srgbClr val="22D3EE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 מול האלטרנטיבות</a:t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11544300" y="950862"/>
            <a:ext cx="76200" cy="6667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33800"/>
            <a:ext cx="1104900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295275" y="1666875"/>
            <a:ext cx="116016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22D3EE"/>
                </a:solidFill>
                <a:latin typeface="Heebo"/>
                <a:ea typeface="Heebo"/>
                <a:cs typeface="Heebo"/>
                <a:sym typeface="Heebo"/>
              </a:rPr>
              <a:t>שאלות?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571500" y="2590800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העתיד של הפיתוח הוא שילוב בין הבנה הנדסית לבין כלי AI עוצמתיים.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571500" y="4238625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תודה על ההקשבה!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571500" y="4762500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ssistant"/>
                <a:ea typeface="Assistant"/>
                <a:cs typeface="Assistant"/>
                <a:sym typeface="Assistant"/>
              </a:rPr>
              <a:t>מקורות: Lovable Documentation, Supabase Docs, Vite.dev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